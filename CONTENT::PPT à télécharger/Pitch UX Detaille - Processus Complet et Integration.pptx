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14"/>
  </p:normalViewPr>
  <p:slideViewPr>
    <p:cSldViewPr snapToGrid="0" snapToObjects="1">
      <p:cViewPr>
        <p:scale>
          <a:sx n="117" d="100"/>
          <a:sy n="117" d="100"/>
        </p:scale>
        <p:origin x="38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2004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02552" y="-2743200"/>
            <a:ext cx="7315200" cy="73152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2057400"/>
            <a:ext cx="76200" cy="2743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9902952" cy="2286000"/>
          </a:xfrm>
          <a:prstGeom prst="rect">
            <a:avLst/>
          </a:prstGeom>
          <a:noFill/>
        </p:spPr>
        <p:txBody>
          <a:bodyPr wrap="square" lIns="12700" rIns="12700">
            <a:spAutoFit/>
          </a:bodyPr>
          <a:lstStyle/>
          <a:p>
            <a:pPr algn="ctr">
              <a:lnSpc>
                <a:spcPct val="110000"/>
              </a:lnSpc>
              <a:defRPr sz="5200" b="1">
                <a:solidFill>
                  <a:srgbClr val="4F46E5"/>
                </a:solidFill>
                <a:latin typeface="Helvetica Neue"/>
              </a:defRPr>
            </a:pPr>
            <a:r>
              <a:t>L'UX au Cœur de Vos Projets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200">
                <a:solidFill>
                  <a:srgbClr val="1A1A1A"/>
                </a:solidFill>
                <a:latin typeface="Helvetica Neue Light"/>
              </a:defRPr>
            </a:pPr>
            <a:r>
              <a:t>Guide complet pour intégrer l'UX dans votre workflow quotidien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1476" y="4206240"/>
            <a:ext cx="22860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Helvetica Neue"/>
              </a:defRPr>
            </a:pPr>
            <a:r>
              <a:t>Comprendre l'UX : Les Fondamentaux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17352" cy="3657600"/>
          </a:xfrm>
          <a:prstGeom prst="rect">
            <a:avLst/>
          </a:prstGeom>
          <a:noFill/>
        </p:spPr>
        <p:txBody>
          <a:bodyPr wrap="square" lIns="12700" tIns="50800" rIns="12700" bIns="15240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800">
                <a:solidFill>
                  <a:srgbClr val="1A1A1A"/>
                </a:solidFill>
                <a:latin typeface="Helvetica Neue Light"/>
              </a:rPr>
              <a:t>UX = User Experience : L'expérience globale d'un utilisateur avec un produit/service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800">
                <a:solidFill>
                  <a:srgbClr val="1A1A1A"/>
                </a:solidFill>
                <a:latin typeface="Helvetica Neue Light"/>
              </a:rPr>
              <a:t>Englobe : Utilisabilité, accessibilité, désirabilité, valeur perçue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800">
                <a:solidFill>
                  <a:srgbClr val="1A1A1A"/>
                </a:solidFill>
                <a:latin typeface="Helvetica Neue Light"/>
              </a:rPr>
              <a:t>Disciplines connexes : UI Design, Recherche utilisateur, Architecture d'information, Ergonomie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800">
                <a:solidFill>
                  <a:srgbClr val="1A1A1A"/>
                </a:solidFill>
                <a:latin typeface="Helvetica Neue Light"/>
              </a:rPr>
              <a:t>Principe clé : Concevoir AVEC les utilisateurs, pas POUR eux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946468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4957352"/>
            <a:ext cx="6350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5257798"/>
            <a:ext cx="10268712" cy="594360"/>
          </a:xfrm>
          <a:prstGeom prst="rect">
            <a:avLst/>
          </a:prstGeom>
          <a:noFill/>
        </p:spPr>
        <p:txBody>
          <a:bodyPr wrap="square" lIns="12700" rIns="12700">
            <a:spAutoFit/>
          </a:bodyPr>
          <a:lstStyle/>
          <a:p>
            <a:r>
              <a:rPr sz="1400">
                <a:solidFill>
                  <a:srgbClr val="1E293B"/>
                </a:solidFill>
                <a:latin typeface="Helvetica Neue Light"/>
              </a:rPr>
              <a:t>Key Point: L'UX est une démarche scientifique basée sur l'observation et la mesure, pas sur l'intuition.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800" b="1">
                <a:solidFill>
                  <a:srgbClr val="4F46E5"/>
                </a:solidFill>
                <a:latin typeface="Helvetica Neue"/>
              </a:defRPr>
            </a:pPr>
            <a:r>
              <a:t>L'Écosystème UX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37360"/>
            <a:ext cx="5294376" cy="2217420"/>
          </a:xfrm>
          <a:prstGeom prst="rect">
            <a:avLst/>
          </a:prstGeom>
          <a:solidFill>
            <a:srgbClr val="F0F4F8"/>
          </a:solidFill>
          <a:ln w="635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745736" cy="457200"/>
          </a:xfrm>
          <a:prstGeom prst="rect">
            <a:avLst/>
          </a:prstGeom>
          <a:noFill/>
        </p:spPr>
        <p:txBody>
          <a:bodyPr wrap="square" lIns="12700" rIns="12700">
            <a:normAutofit/>
          </a:bodyPr>
          <a:lstStyle/>
          <a:p>
            <a:pPr>
              <a:defRPr sz="1400" b="1">
                <a:solidFill>
                  <a:srgbClr val="4F46E5"/>
                </a:solidFill>
                <a:latin typeface="Helvetica Neue"/>
              </a:defRPr>
            </a:pPr>
            <a:r>
              <a:t>Recherche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4745736" cy="1120140"/>
          </a:xfrm>
          <a:prstGeom prst="rect">
            <a:avLst/>
          </a:prstGeom>
          <a:noFill/>
        </p:spPr>
        <p:txBody>
          <a:bodyPr wrap="square" lIns="12700" rIns="1270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>
                <a:solidFill>
                  <a:srgbClr val="1E293B"/>
                </a:solidFill>
                <a:latin typeface="Helvetica Neue Light"/>
              </a:defRPr>
            </a:pPr>
            <a:r>
              <a:t>• Interviews utilisateurs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>
                <a:solidFill>
                  <a:srgbClr val="1E293B"/>
                </a:solidFill>
                <a:latin typeface="Helvetica Neue Light"/>
              </a:defRPr>
            </a:pPr>
            <a:r>
              <a:t>• Tests d'utilisabilité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>
                <a:solidFill>
                  <a:srgbClr val="1E293B"/>
                </a:solidFill>
                <a:latin typeface="Helvetica Neue Light"/>
              </a:defRPr>
            </a:pPr>
            <a:r>
              <a:t>• Analytics comportementaux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>
                <a:solidFill>
                  <a:srgbClr val="1E293B"/>
                </a:solidFill>
                <a:latin typeface="Helvetica Neue Light"/>
              </a:defRPr>
            </a:pPr>
            <a:r>
              <a:t>• Personas et parcours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08776" y="1737360"/>
            <a:ext cx="5294376" cy="2217420"/>
          </a:xfrm>
          <a:prstGeom prst="rect">
            <a:avLst/>
          </a:prstGeom>
          <a:solidFill>
            <a:srgbClr val="F8F8FC"/>
          </a:solidFill>
          <a:ln w="635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83096" y="2011680"/>
            <a:ext cx="4745736" cy="457200"/>
          </a:xfrm>
          <a:prstGeom prst="rect">
            <a:avLst/>
          </a:prstGeom>
          <a:noFill/>
        </p:spPr>
        <p:txBody>
          <a:bodyPr wrap="square" lIns="12700" rIns="12700">
            <a:normAutofit/>
          </a:bodyPr>
          <a:lstStyle/>
          <a:p>
            <a:pPr>
              <a:defRPr sz="1400" b="1">
                <a:solidFill>
                  <a:srgbClr val="4F46E5"/>
                </a:solidFill>
                <a:latin typeface="Helvetica Neue"/>
              </a:defRPr>
            </a:pPr>
            <a:r>
              <a:t>Design 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560320"/>
            <a:ext cx="4745736" cy="1120140"/>
          </a:xfrm>
          <a:prstGeom prst="rect">
            <a:avLst/>
          </a:prstGeom>
          <a:noFill/>
        </p:spPr>
        <p:txBody>
          <a:bodyPr wrap="square" lIns="12700" rIns="1270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>
                <a:solidFill>
                  <a:srgbClr val="1E293B"/>
                </a:solidFill>
                <a:latin typeface="Helvetica Neue Light"/>
              </a:defRPr>
            </a:pPr>
            <a:r>
              <a:t>• Architecture d'information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>
                <a:solidFill>
                  <a:srgbClr val="1E293B"/>
                </a:solidFill>
                <a:latin typeface="Helvetica Neue Light"/>
              </a:defRPr>
            </a:pPr>
            <a:r>
              <a:t>• Wireframes et prototypes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>
                <a:solidFill>
                  <a:srgbClr val="1E293B"/>
                </a:solidFill>
                <a:latin typeface="Helvetica Neue Light"/>
              </a:defRPr>
            </a:pPr>
            <a:r>
              <a:t>• Design d'interaction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>
                <a:solidFill>
                  <a:srgbClr val="1E293B"/>
                </a:solidFill>
                <a:latin typeface="Helvetica Neue Light"/>
              </a:defRPr>
            </a:pPr>
            <a:r>
              <a:t>• Micro-interactions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183380"/>
            <a:ext cx="5294376" cy="2217420"/>
          </a:xfrm>
          <a:prstGeom prst="rect">
            <a:avLst/>
          </a:prstGeom>
          <a:solidFill>
            <a:srgbClr val="F4F8F4"/>
          </a:solidFill>
          <a:ln w="635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457700"/>
            <a:ext cx="4745736" cy="457200"/>
          </a:xfrm>
          <a:prstGeom prst="rect">
            <a:avLst/>
          </a:prstGeom>
          <a:noFill/>
        </p:spPr>
        <p:txBody>
          <a:bodyPr wrap="square" lIns="12700" rIns="12700">
            <a:normAutofit/>
          </a:bodyPr>
          <a:lstStyle/>
          <a:p>
            <a:pPr>
              <a:defRPr sz="1400" b="1">
                <a:solidFill>
                  <a:srgbClr val="4F46E5"/>
                </a:solidFill>
                <a:latin typeface="Helvetica Neue"/>
              </a:defRPr>
            </a:pPr>
            <a:r>
              <a:t>UI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006340"/>
            <a:ext cx="4745736" cy="1120140"/>
          </a:xfrm>
          <a:prstGeom prst="rect">
            <a:avLst/>
          </a:prstGeom>
          <a:noFill/>
        </p:spPr>
        <p:txBody>
          <a:bodyPr wrap="square" lIns="12700" rIns="1270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>
                <a:solidFill>
                  <a:srgbClr val="1E293B"/>
                </a:solidFill>
                <a:latin typeface="Helvetica Neue Light"/>
              </a:defRPr>
            </a:pPr>
            <a:r>
              <a:t>• Design système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>
                <a:solidFill>
                  <a:srgbClr val="1E293B"/>
                </a:solidFill>
                <a:latin typeface="Helvetica Neue Light"/>
              </a:defRPr>
            </a:pPr>
            <a:r>
              <a:t>• Composants visuels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>
                <a:solidFill>
                  <a:srgbClr val="1E293B"/>
                </a:solidFill>
                <a:latin typeface="Helvetica Neue Light"/>
              </a:defRPr>
            </a:pPr>
            <a:r>
              <a:t>• Responsive design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>
                <a:solidFill>
                  <a:srgbClr val="1E293B"/>
                </a:solidFill>
                <a:latin typeface="Helvetica Neue Light"/>
              </a:defRPr>
            </a:pPr>
            <a:r>
              <a:t>• Accessibilité WCAG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4183380"/>
            <a:ext cx="5294376" cy="2217420"/>
          </a:xfrm>
          <a:prstGeom prst="rect">
            <a:avLst/>
          </a:prstGeom>
          <a:solidFill>
            <a:srgbClr val="FCFAF8"/>
          </a:solidFill>
          <a:ln w="635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83096" y="4457700"/>
            <a:ext cx="4745736" cy="457200"/>
          </a:xfrm>
          <a:prstGeom prst="rect">
            <a:avLst/>
          </a:prstGeom>
          <a:noFill/>
        </p:spPr>
        <p:txBody>
          <a:bodyPr wrap="square" lIns="12700" rIns="12700">
            <a:normAutofit/>
          </a:bodyPr>
          <a:lstStyle/>
          <a:p>
            <a:pPr>
              <a:defRPr sz="1400" b="1">
                <a:solidFill>
                  <a:srgbClr val="4F46E5"/>
                </a:solidFill>
                <a:latin typeface="Helvetica Neue"/>
              </a:defRPr>
            </a:pPr>
            <a:r>
              <a:t>UX Writing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5006340"/>
            <a:ext cx="4745736" cy="1120140"/>
          </a:xfrm>
          <a:prstGeom prst="rect">
            <a:avLst/>
          </a:prstGeom>
          <a:noFill/>
        </p:spPr>
        <p:txBody>
          <a:bodyPr wrap="square" lIns="12700" rIns="1270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>
                <a:solidFill>
                  <a:srgbClr val="1E293B"/>
                </a:solidFill>
                <a:latin typeface="Helvetica Neue Light"/>
              </a:defRPr>
            </a:pPr>
            <a:r>
              <a:t>• Microcopy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>
                <a:solidFill>
                  <a:srgbClr val="1E293B"/>
                </a:solidFill>
                <a:latin typeface="Helvetica Neue Light"/>
              </a:defRPr>
            </a:pPr>
            <a:r>
              <a:t>• Ton et voix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>
                <a:solidFill>
                  <a:srgbClr val="1E293B"/>
                </a:solidFill>
                <a:latin typeface="Helvetica Neue Light"/>
              </a:defRPr>
            </a:pPr>
            <a:r>
              <a:t>• Messages d'erreur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>
                <a:solidFill>
                  <a:srgbClr val="1E293B"/>
                </a:solidFill>
                <a:latin typeface="Helvetica Neue Light"/>
              </a:defRPr>
            </a:pPr>
            <a:r>
              <a:t>• Aide contextuelle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Helvetica Neue"/>
              </a:defRPr>
            </a:pPr>
            <a:r>
              <a:t>L'Impact Business de l'UX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37360"/>
          <a:ext cx="108173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4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4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F46E5"/>
                          </a:solidFill>
                          <a:latin typeface="Helvetica Neue Light"/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F46E5"/>
                          </a:solidFill>
                          <a:latin typeface="Helvetica Neue Light"/>
                        </a:defRPr>
                      </a:pPr>
                      <a:r>
                        <a:t>Sans 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F46E5"/>
                          </a:solidFill>
                          <a:latin typeface="Helvetica Neue Light"/>
                        </a:defRPr>
                      </a:pPr>
                      <a:r>
                        <a:t>Avec 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F46E5"/>
                          </a:solidFill>
                          <a:latin typeface="Helvetica Neue Light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Taux de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2-3%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5-8%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+150%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Coût de développement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-50%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Économies majeures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Appels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-40%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Réduction charge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Time-to-market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-25%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Livraison accélérée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Satisfaction utilisateur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85%+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Helvetica Neue Light"/>
                        </a:defRPr>
                      </a:pPr>
                      <a:r>
                        <a:t>+25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F46E5"/>
                </a:solidFill>
                <a:latin typeface="Helvetica Neue"/>
              </a:defRPr>
            </a:pPr>
            <a:r>
              <a:t>ROI : Les Chiffres Clés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1476" y="1554480"/>
            <a:ext cx="22860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4F46E5"/>
                </a:solidFill>
                <a:latin typeface="Helvetica Neue"/>
              </a:defRPr>
            </a:pPr>
            <a:r>
              <a:t>9 900%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74720"/>
            <a:ext cx="108173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  <a:latin typeface="Helvetica Neue Light"/>
              </a:defRPr>
            </a:pPr>
            <a:r>
              <a:t>ROI MOYEN DE L'INVESTISSEMENT UX (FORRESTER)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1476" y="4206240"/>
            <a:ext cx="22860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00200" y="4754880"/>
            <a:ext cx="8988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>
                <a:solidFill>
                  <a:srgbClr val="1A1A1A"/>
                </a:solidFill>
                <a:latin typeface="Helvetica Neue Light"/>
              </a:defRPr>
            </a:pPr>
            <a:r>
              <a:t>88% des utilisateurs ne reviennent pas après une mauvaise expérience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800" b="1">
                <a:solidFill>
                  <a:srgbClr val="4F46E5"/>
                </a:solidFill>
                <a:latin typeface="Helvetica Neue"/>
              </a:defRPr>
            </a:pPr>
            <a:r>
              <a:t>Le Processus UX Complet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143000" y="2194560"/>
            <a:ext cx="0" cy="4206240"/>
          </a:xfrm>
          <a:prstGeom prst="line">
            <a:avLst/>
          </a:prstGeom>
          <a:ln w="254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51560" y="2103120"/>
            <a:ext cx="182880" cy="182880"/>
          </a:xfrm>
          <a:prstGeom prst="ellipse">
            <a:avLst/>
          </a:prstGeom>
          <a:solidFill>
            <a:srgbClr val="4F46E5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57400" y="2011680"/>
            <a:ext cx="9445752" cy="6008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Helvetica Neue"/>
              </a:rPr>
              <a:t>Phase 1</a:t>
            </a:r>
          </a:p>
          <a:p>
            <a:r>
              <a:rPr sz="1100">
                <a:solidFill>
                  <a:srgbClr val="1A1A1A"/>
                </a:solidFill>
                <a:latin typeface="Helvetica Neue Light"/>
              </a:rPr>
              <a:t>Découverte - Comprendre le contexte, les utilisateurs et les enjeux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2704011"/>
            <a:ext cx="182880" cy="182880"/>
          </a:xfrm>
          <a:prstGeom prst="ellipse">
            <a:avLst/>
          </a:prstGeom>
          <a:solidFill>
            <a:srgbClr val="4F46E5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7400" y="2612571"/>
            <a:ext cx="9445752" cy="6008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Helvetica Neue"/>
              </a:rPr>
              <a:t>Phase 2</a:t>
            </a:r>
          </a:p>
          <a:p>
            <a:r>
              <a:rPr sz="1100">
                <a:solidFill>
                  <a:srgbClr val="1A1A1A"/>
                </a:solidFill>
                <a:latin typeface="Helvetica Neue Light"/>
              </a:rPr>
              <a:t>Définition - Synthétiser les insights et cadrer le périmètre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3304902"/>
            <a:ext cx="182880" cy="182880"/>
          </a:xfrm>
          <a:prstGeom prst="ellipse">
            <a:avLst/>
          </a:prstGeom>
          <a:solidFill>
            <a:srgbClr val="4F46E5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57400" y="3213462"/>
            <a:ext cx="9445752" cy="6008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Helvetica Neue"/>
              </a:rPr>
              <a:t>Phase 3</a:t>
            </a:r>
          </a:p>
          <a:p>
            <a:r>
              <a:rPr sz="1100">
                <a:solidFill>
                  <a:srgbClr val="1A1A1A"/>
                </a:solidFill>
                <a:latin typeface="Helvetica Neue Light"/>
              </a:rPr>
              <a:t>Idéation - Explorer les solutions possibles en équipe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3905793"/>
            <a:ext cx="182880" cy="182880"/>
          </a:xfrm>
          <a:prstGeom prst="ellipse">
            <a:avLst/>
          </a:prstGeom>
          <a:solidFill>
            <a:srgbClr val="4F46E5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57400" y="3814353"/>
            <a:ext cx="9445752" cy="6008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Helvetica Neue"/>
              </a:rPr>
              <a:t>Phase 4</a:t>
            </a:r>
          </a:p>
          <a:p>
            <a:r>
              <a:rPr sz="1100">
                <a:solidFill>
                  <a:srgbClr val="1A1A1A"/>
                </a:solidFill>
                <a:latin typeface="Helvetica Neue Light"/>
              </a:rPr>
              <a:t>Prototypage - Créer des versions testables rapidement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4506684"/>
            <a:ext cx="182880" cy="182880"/>
          </a:xfrm>
          <a:prstGeom prst="ellipse">
            <a:avLst/>
          </a:prstGeom>
          <a:solidFill>
            <a:srgbClr val="4F46E5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57400" y="4415244"/>
            <a:ext cx="9445752" cy="6008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Helvetica Neue"/>
              </a:rPr>
              <a:t>Phase 5</a:t>
            </a:r>
          </a:p>
          <a:p>
            <a:r>
              <a:rPr sz="1100">
                <a:solidFill>
                  <a:srgbClr val="1A1A1A"/>
                </a:solidFill>
                <a:latin typeface="Helvetica Neue Light"/>
              </a:rPr>
              <a:t>Test - Valider avec de vrais utilisateurs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5107575"/>
            <a:ext cx="182880" cy="182880"/>
          </a:xfrm>
          <a:prstGeom prst="ellipse">
            <a:avLst/>
          </a:prstGeom>
          <a:solidFill>
            <a:srgbClr val="4F46E5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57400" y="5016135"/>
            <a:ext cx="9445752" cy="6008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Helvetica Neue"/>
              </a:rPr>
              <a:t>Phase 6</a:t>
            </a:r>
          </a:p>
          <a:p>
            <a:r>
              <a:rPr sz="1100">
                <a:solidFill>
                  <a:srgbClr val="1A1A1A"/>
                </a:solidFill>
                <a:latin typeface="Helvetica Neue Light"/>
              </a:rPr>
              <a:t>Implémentation - Accompagner le développement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5708466"/>
            <a:ext cx="182880" cy="182880"/>
          </a:xfrm>
          <a:prstGeom prst="ellipse">
            <a:avLst/>
          </a:prstGeom>
          <a:solidFill>
            <a:srgbClr val="4F46E5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57400" y="5617026"/>
            <a:ext cx="9445752" cy="6008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Helvetica Neue"/>
              </a:rPr>
              <a:t>Phase 7</a:t>
            </a:r>
          </a:p>
          <a:p>
            <a:r>
              <a:rPr sz="1100">
                <a:solidFill>
                  <a:srgbClr val="1A1A1A"/>
                </a:solidFill>
                <a:latin typeface="Helvetica Neue Light"/>
              </a:rPr>
              <a:t>Mesure - Suivre les KPIs et itérer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Helvetica Neue"/>
              </a:defRPr>
            </a:pPr>
            <a:r>
              <a:t>Phase 1 : Découverte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17352" cy="3657600"/>
          </a:xfrm>
          <a:prstGeom prst="rect">
            <a:avLst/>
          </a:prstGeom>
          <a:noFill/>
        </p:spPr>
        <p:txBody>
          <a:bodyPr wrap="square" lIns="12700" tIns="50800" rIns="12700" bIns="15240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Objectif :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Comprendre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le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contexte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, les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utilisateurs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et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leurs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besoins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réels</a:t>
            </a:r>
            <a:endParaRPr sz="1500" dirty="0">
              <a:solidFill>
                <a:srgbClr val="1A1A1A"/>
              </a:solidFill>
              <a:latin typeface="Helvetica Neue Light"/>
            </a:endParaRP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 err="1">
                <a:solidFill>
                  <a:srgbClr val="1A1A1A"/>
                </a:solidFill>
                <a:latin typeface="Helvetica Neue Light"/>
              </a:rPr>
              <a:t>Méthodes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: Interviews stakeholders,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entretiens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utilisateurs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(8-12), observation terrain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 err="1">
                <a:solidFill>
                  <a:srgbClr val="1A1A1A"/>
                </a:solidFill>
                <a:latin typeface="Helvetica Neue Light"/>
              </a:rPr>
              <a:t>Livrables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: Rapport de recherche, verbatims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clés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, premières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hypothèses</a:t>
            </a:r>
            <a:endParaRPr sz="1500" dirty="0">
              <a:solidFill>
                <a:srgbClr val="1A1A1A"/>
              </a:solidFill>
              <a:latin typeface="Helvetica Neue Light"/>
            </a:endParaRP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Durée type : </a:t>
            </a:r>
            <a:r>
              <a:rPr lang="fr-FR" sz="1500" dirty="0">
                <a:solidFill>
                  <a:srgbClr val="1A1A1A"/>
                </a:solidFill>
                <a:latin typeface="Helvetica Neue Light"/>
              </a:rPr>
              <a:t>4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-</a:t>
            </a:r>
            <a:r>
              <a:rPr lang="fr-FR" sz="1500" dirty="0">
                <a:solidFill>
                  <a:srgbClr val="1A1A1A"/>
                </a:solidFill>
                <a:latin typeface="Helvetica Neue Light"/>
              </a:rPr>
              <a:t>6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semaines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selon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la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complexité</a:t>
            </a:r>
            <a:endParaRPr sz="1500" dirty="0">
              <a:solidFill>
                <a:srgbClr val="1A1A1A"/>
              </a:solidFill>
              <a:latin typeface="Helvetica Neue Light"/>
            </a:endParaRP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Conseil :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Impliquez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les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développeurs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dès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cette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phase pour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partager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les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57784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5577840"/>
            <a:ext cx="6350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5812973"/>
            <a:ext cx="10268712" cy="594360"/>
          </a:xfrm>
          <a:prstGeom prst="rect">
            <a:avLst/>
          </a:prstGeom>
          <a:noFill/>
        </p:spPr>
        <p:txBody>
          <a:bodyPr wrap="square" lIns="12700" rIns="12700">
            <a:spAutoFit/>
          </a:bodyPr>
          <a:lstStyle/>
          <a:p>
            <a:r>
              <a:rPr sz="1400" dirty="0">
                <a:solidFill>
                  <a:srgbClr val="1E293B"/>
                </a:solidFill>
                <a:latin typeface="Helvetica Neue Light"/>
              </a:rPr>
              <a:t>Warning: 80% des </a:t>
            </a:r>
            <a:r>
              <a:rPr sz="1400" dirty="0" err="1">
                <a:solidFill>
                  <a:srgbClr val="1E293B"/>
                </a:solidFill>
                <a:latin typeface="Helvetica Neue Light"/>
              </a:rPr>
              <a:t>problèmes</a:t>
            </a:r>
            <a:r>
              <a:rPr sz="1400" dirty="0">
                <a:solidFill>
                  <a:srgbClr val="1E293B"/>
                </a:solidFill>
                <a:latin typeface="Helvetica Neue Light"/>
              </a:rPr>
              <a:t> UX </a:t>
            </a:r>
            <a:r>
              <a:rPr sz="1400" dirty="0" err="1">
                <a:solidFill>
                  <a:srgbClr val="1E293B"/>
                </a:solidFill>
                <a:latin typeface="Helvetica Neue Light"/>
              </a:rPr>
              <a:t>viennent</a:t>
            </a:r>
            <a:r>
              <a:rPr sz="1400" dirty="0">
                <a:solidFill>
                  <a:srgbClr val="1E293B"/>
                </a:solidFill>
                <a:latin typeface="Helvetica Neue Light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Helvetica Neue Light"/>
              </a:rPr>
              <a:t>d'une</a:t>
            </a:r>
            <a:r>
              <a:rPr sz="1400" dirty="0">
                <a:solidFill>
                  <a:srgbClr val="1E293B"/>
                </a:solidFill>
                <a:latin typeface="Helvetica Neue Light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Helvetica Neue Light"/>
              </a:rPr>
              <a:t>mauvaise</a:t>
            </a:r>
            <a:r>
              <a:rPr sz="1400" dirty="0">
                <a:solidFill>
                  <a:srgbClr val="1E293B"/>
                </a:solidFill>
                <a:latin typeface="Helvetica Neue Light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Helvetica Neue Light"/>
              </a:rPr>
              <a:t>compréhension</a:t>
            </a:r>
            <a:r>
              <a:rPr sz="1400" dirty="0">
                <a:solidFill>
                  <a:srgbClr val="1E293B"/>
                </a:solidFill>
                <a:latin typeface="Helvetica Neue Light"/>
              </a:rPr>
              <a:t> des </a:t>
            </a:r>
            <a:r>
              <a:rPr sz="1400" dirty="0" err="1">
                <a:solidFill>
                  <a:srgbClr val="1E293B"/>
                </a:solidFill>
                <a:latin typeface="Helvetica Neue Light"/>
              </a:rPr>
              <a:t>besoins</a:t>
            </a:r>
            <a:r>
              <a:rPr sz="1400" dirty="0">
                <a:solidFill>
                  <a:srgbClr val="1E293B"/>
                </a:solidFill>
                <a:latin typeface="Helvetica Neue Light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Helvetica Neue Light"/>
              </a:rPr>
              <a:t>réels</a:t>
            </a:r>
            <a:r>
              <a:rPr sz="1400" dirty="0">
                <a:solidFill>
                  <a:srgbClr val="1E293B"/>
                </a:solidFill>
                <a:latin typeface="Helvetica Neue Light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Helvetica Neue"/>
              </a:defRPr>
            </a:pPr>
            <a:r>
              <a:t>Phase 2 : Définition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17352" cy="3657600"/>
          </a:xfrm>
          <a:prstGeom prst="rect">
            <a:avLst/>
          </a:prstGeom>
          <a:noFill/>
        </p:spPr>
        <p:txBody>
          <a:bodyPr wrap="square" lIns="12700" tIns="50800" rIns="12700" bIns="15240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b="1" dirty="0">
                <a:solidFill>
                  <a:srgbClr val="1A1A1A"/>
                </a:solidFill>
                <a:latin typeface="Helvetica Neue Light"/>
              </a:rPr>
              <a:t>Objectif :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Synthétiser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les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apprentissages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en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outils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actionnables</a:t>
            </a:r>
            <a:endParaRPr sz="1500" dirty="0">
              <a:solidFill>
                <a:srgbClr val="1A1A1A"/>
              </a:solidFill>
              <a:latin typeface="Helvetica Neue Light"/>
            </a:endParaRP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b="1" dirty="0" err="1">
                <a:solidFill>
                  <a:srgbClr val="1A1A1A"/>
                </a:solidFill>
                <a:latin typeface="Helvetica Neue Light"/>
              </a:rPr>
              <a:t>Livrables</a:t>
            </a:r>
            <a:r>
              <a:rPr sz="1500" b="1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Helvetica Neue Light"/>
              </a:rPr>
              <a:t>clés</a:t>
            </a:r>
            <a:r>
              <a:rPr sz="1500" b="1" dirty="0">
                <a:solidFill>
                  <a:srgbClr val="1A1A1A"/>
                </a:solidFill>
                <a:latin typeface="Helvetica Neue Light"/>
              </a:rPr>
              <a:t> :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- Personas :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Profils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types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basés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sur la recherche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- User Journey Maps :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Cartographie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des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parcours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actuels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et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cibles</a:t>
            </a:r>
            <a:endParaRPr sz="1500" dirty="0">
              <a:solidFill>
                <a:srgbClr val="1A1A1A"/>
              </a:solidFill>
              <a:latin typeface="Helvetica Neue Light"/>
            </a:endParaRP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- Jobs-to-be-Done : Ce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que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les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utilisateurs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cherchent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vraiment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à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accomplir</a:t>
            </a:r>
            <a:endParaRPr sz="1500" dirty="0">
              <a:solidFill>
                <a:srgbClr val="1A1A1A"/>
              </a:solidFill>
              <a:latin typeface="Helvetica Neue Light"/>
            </a:endParaRP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-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Problèmes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prioritaires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: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Liste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hiérarchisée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des irritants à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résoudre</a:t>
            </a:r>
            <a:endParaRPr sz="1500" dirty="0">
              <a:solidFill>
                <a:srgbClr val="1A1A1A"/>
              </a:solidFill>
              <a:latin typeface="Helvetica Neue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Helvetica Neue"/>
              </a:defRPr>
            </a:pPr>
            <a:r>
              <a:t>Phase 3 : Idéation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17352" cy="3657600"/>
          </a:xfrm>
          <a:prstGeom prst="rect">
            <a:avLst/>
          </a:prstGeom>
          <a:noFill/>
        </p:spPr>
        <p:txBody>
          <a:bodyPr wrap="square" lIns="12700" tIns="50800" rIns="12700" bIns="15240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Objectif : Explorer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largement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avant de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converger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sur les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meilleures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solutions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Ateliers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collaboratifs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: Design Studio, Crazy 8s, How Might We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Participants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idéaux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: Mix de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profils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(UX, dev, métier,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utilisateurs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)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 err="1">
                <a:solidFill>
                  <a:srgbClr val="1A1A1A"/>
                </a:solidFill>
                <a:latin typeface="Helvetica Neue Light"/>
              </a:rPr>
              <a:t>Règle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d'or :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Quantité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avant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qualité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- on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génère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,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puis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on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filtre</a:t>
            </a:r>
            <a:endParaRPr sz="1500" dirty="0">
              <a:solidFill>
                <a:srgbClr val="1A1A1A"/>
              </a:solidFill>
              <a:latin typeface="Helvetica Neue Light"/>
            </a:endParaRP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 err="1">
                <a:solidFill>
                  <a:srgbClr val="1A1A1A"/>
                </a:solidFill>
                <a:latin typeface="Helvetica Neue Light"/>
              </a:rPr>
              <a:t>Résultat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: 3-5 concepts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prometteurs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à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prototyper</a:t>
            </a:r>
            <a:endParaRPr sz="1500" dirty="0">
              <a:solidFill>
                <a:srgbClr val="1A1A1A"/>
              </a:solidFill>
              <a:latin typeface="Helvetica Neue Ligh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557784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5577840"/>
            <a:ext cx="6350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5715000"/>
            <a:ext cx="10268712" cy="594360"/>
          </a:xfrm>
          <a:prstGeom prst="rect">
            <a:avLst/>
          </a:prstGeom>
          <a:noFill/>
        </p:spPr>
        <p:txBody>
          <a:bodyPr wrap="square" lIns="12700" rIns="12700">
            <a:spAutoFit/>
          </a:bodyPr>
          <a:lstStyle/>
          <a:p>
            <a:r>
              <a:rPr sz="1400">
                <a:solidFill>
                  <a:srgbClr val="1E293B"/>
                </a:solidFill>
                <a:latin typeface="Helvetica Neue Light"/>
              </a:rPr>
              <a:t>Insight: Les meilleures idées viennent souvent de la confrontation des perspectives.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Helvetica Neue"/>
              </a:defRPr>
            </a:pPr>
            <a:r>
              <a:t>Phase 4 : Prototypage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37360"/>
            <a:ext cx="4951476" cy="685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5029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rPr dirty="0"/>
              <a:t>Basse </a:t>
            </a:r>
            <a:r>
              <a:rPr dirty="0" err="1"/>
              <a:t>Fidélité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2608191"/>
            <a:ext cx="4722876" cy="211623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t>• Sketches papier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t>• Wireframes simples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t>• Idéal pour explorer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t>• Coût : quelques heures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t>• Test : structure et flux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0" y="1737360"/>
            <a:ext cx="48737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16486" y="1828800"/>
            <a:ext cx="4558066" cy="5029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Haute Fidélité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6486" y="2608191"/>
            <a:ext cx="4558066" cy="211623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rPr dirty="0"/>
              <a:t>• Maquettes interactives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rPr dirty="0"/>
              <a:t>• Design </a:t>
            </a:r>
            <a:r>
              <a:rPr dirty="0" err="1"/>
              <a:t>proche</a:t>
            </a:r>
            <a:r>
              <a:rPr dirty="0"/>
              <a:t> du final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rPr dirty="0"/>
              <a:t>• </a:t>
            </a:r>
            <a:r>
              <a:rPr dirty="0" err="1"/>
              <a:t>Idéal</a:t>
            </a:r>
            <a:r>
              <a:rPr dirty="0"/>
              <a:t> pour </a:t>
            </a:r>
            <a:r>
              <a:rPr dirty="0" err="1"/>
              <a:t>valider</a:t>
            </a:r>
            <a:endParaRPr dirty="0"/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rPr dirty="0"/>
              <a:t>• </a:t>
            </a:r>
            <a:r>
              <a:rPr dirty="0" err="1"/>
              <a:t>Coût</a:t>
            </a:r>
            <a:r>
              <a:rPr dirty="0"/>
              <a:t> : </a:t>
            </a:r>
            <a:r>
              <a:rPr dirty="0" err="1"/>
              <a:t>quelques</a:t>
            </a:r>
            <a:r>
              <a:rPr dirty="0"/>
              <a:t> </a:t>
            </a:r>
            <a:r>
              <a:rPr dirty="0" err="1"/>
              <a:t>jours</a:t>
            </a:r>
            <a:endParaRPr dirty="0"/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1A"/>
                </a:solidFill>
                <a:latin typeface="Helvetica Neue Light"/>
              </a:defRPr>
            </a:pPr>
            <a:r>
              <a:rPr dirty="0"/>
              <a:t>• Test : interactions </a:t>
            </a:r>
            <a:r>
              <a:rPr dirty="0" err="1"/>
              <a:t>détaillées</a:t>
            </a:r>
            <a:endParaRPr dirty="0"/>
          </a:p>
        </p:txBody>
      </p:sp>
      <p:sp>
        <p:nvSpPr>
          <p:cNvPr id="10" name="Oval 9"/>
          <p:cNvSpPr/>
          <p:nvPr/>
        </p:nvSpPr>
        <p:spPr>
          <a:xfrm>
            <a:off x="5452219" y="361188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30448" y="3611880"/>
            <a:ext cx="914400" cy="914400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  <a:latin typeface="Helvetica Neue"/>
              </a:defRPr>
            </a:pPr>
            <a:r>
              <a:rPr dirty="0"/>
              <a:t>VS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Helvetica Neue"/>
              </a:defRPr>
            </a:pPr>
            <a:r>
              <a:t>Phase 5 : Tests Utilisateurs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17352" cy="3657600"/>
          </a:xfrm>
          <a:prstGeom prst="rect">
            <a:avLst/>
          </a:prstGeom>
          <a:noFill/>
        </p:spPr>
        <p:txBody>
          <a:bodyPr wrap="square" lIns="12700" tIns="50800" rIns="12700" bIns="15240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Principe : Observer de vrais utilisateurs accomplir des tâches réelles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Format : Sessions de 45-60 min, 5-8 participants suffisent pour 85% des problèmes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Protocole : Scénarios réalistes, questions ouvertes, observation sans guidance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Analyse : Identification des patterns, sévérité des problèmes, recommandations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Itération : On corrige et on re-teste jusqu'à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57784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5577840"/>
            <a:ext cx="6350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5823860"/>
            <a:ext cx="10268712" cy="594360"/>
          </a:xfrm>
          <a:prstGeom prst="rect">
            <a:avLst/>
          </a:prstGeom>
          <a:noFill/>
        </p:spPr>
        <p:txBody>
          <a:bodyPr wrap="square" lIns="12700" rIns="12700">
            <a:spAutoFit/>
          </a:bodyPr>
          <a:lstStyle/>
          <a:p>
            <a:r>
              <a:rPr sz="1400" dirty="0">
                <a:solidFill>
                  <a:srgbClr val="1E293B"/>
                </a:solidFill>
                <a:latin typeface="Helvetica Neue Light"/>
              </a:rPr>
              <a:t>Key Point: 5 </a:t>
            </a:r>
            <a:r>
              <a:rPr sz="1400" dirty="0" err="1">
                <a:solidFill>
                  <a:srgbClr val="1E293B"/>
                </a:solidFill>
                <a:latin typeface="Helvetica Neue Light"/>
              </a:rPr>
              <a:t>utilisateurs</a:t>
            </a:r>
            <a:r>
              <a:rPr sz="1400" dirty="0">
                <a:solidFill>
                  <a:srgbClr val="1E293B"/>
                </a:solidFill>
                <a:latin typeface="Helvetica Neue Light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Helvetica Neue Light"/>
              </a:rPr>
              <a:t>révèlent</a:t>
            </a:r>
            <a:r>
              <a:rPr sz="1400" dirty="0">
                <a:solidFill>
                  <a:srgbClr val="1E293B"/>
                </a:solidFill>
                <a:latin typeface="Helvetica Neue Light"/>
              </a:rPr>
              <a:t> 85% des </a:t>
            </a:r>
            <a:r>
              <a:rPr sz="1400" dirty="0" err="1">
                <a:solidFill>
                  <a:srgbClr val="1E293B"/>
                </a:solidFill>
                <a:latin typeface="Helvetica Neue Light"/>
              </a:rPr>
              <a:t>problèmes</a:t>
            </a:r>
            <a:r>
              <a:rPr sz="1400" dirty="0">
                <a:solidFill>
                  <a:srgbClr val="1E293B"/>
                </a:solidFill>
                <a:latin typeface="Helvetica Neue Light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Helvetica Neue Light"/>
              </a:rPr>
              <a:t>d'utilisabilité</a:t>
            </a:r>
            <a:r>
              <a:rPr sz="1400" dirty="0">
                <a:solidFill>
                  <a:srgbClr val="1E293B"/>
                </a:solidFill>
                <a:latin typeface="Helvetica Neue Light"/>
              </a:rPr>
              <a:t> (Nielsen Norman Group).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Helvetica Neue"/>
              </a:defRPr>
            </a:pPr>
            <a:r>
              <a:t>Phase 6 : Accompagnement Développement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17352" cy="3657600"/>
          </a:xfrm>
          <a:prstGeom prst="rect">
            <a:avLst/>
          </a:prstGeom>
          <a:noFill/>
        </p:spPr>
        <p:txBody>
          <a:bodyPr wrap="square" lIns="12700" tIns="50800" rIns="12700" bIns="15240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Handoff structuré : Spécifications UX détaillées, design tokens, composants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Collaboration continue : Revues régulières UX/Dev, arbitrages en temps réel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Contrôle qualité : Vérification de la conformité UX avant release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Documentation : Guide de styles, patterns library, cas d'usage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Conseil : Intégrez un UX dans chaque squad/équipe projet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Helvetica Neue"/>
              </a:defRPr>
            </a:pPr>
            <a:r>
              <a:t>Phase 7 : Mesure Continue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37360"/>
          <a:ext cx="108173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0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0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46E5"/>
                          </a:solidFill>
                          <a:latin typeface="Helvetica Neue Light"/>
                        </a:rPr>
                        <a:t>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Helvetica Neue Light"/>
                        </a:rPr>
                        <a:t>Taux de conversion, parcours, abandons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Helvetica Neue Light"/>
                        </a:rPr>
                        <a:t>Quantitatif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46E5"/>
                          </a:solidFill>
                          <a:latin typeface="Helvetica Neue Light"/>
                        </a:rPr>
                        <a:t>Tests A/B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Helvetica Neue Light"/>
                        </a:rPr>
                        <a:t>Comparaison de variantes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Helvetica Neue Light"/>
                        </a:rPr>
                        <a:t>Décisions data-driven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46E5"/>
                          </a:solidFill>
                          <a:latin typeface="Helvetica Neue Light"/>
                        </a:rPr>
                        <a:t>NPS/CSAT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Helvetica Neue Light"/>
                        </a:rPr>
                        <a:t>Satisfaction et recommandation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Helvetica Neue Light"/>
                        </a:rPr>
                        <a:t>Feedback utilisateur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r>
                        <a:t>⏱️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46E5"/>
                          </a:solidFill>
                          <a:latin typeface="Helvetica Neue Light"/>
                        </a:rPr>
                        <a:t>SUS/UEQ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Helvetica Neue Light"/>
                        </a:rPr>
                        <a:t>Scores d'utilisabilité standardisés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Helvetica Neue Light"/>
                        </a:rPr>
                        <a:t>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Helvetica Neue"/>
              </a:defRPr>
            </a:pPr>
            <a:r>
              <a:t>Intégrer l'UX dans Vos Projets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17352" cy="3657600"/>
          </a:xfrm>
          <a:prstGeom prst="rect">
            <a:avLst/>
          </a:prstGeom>
          <a:noFill/>
        </p:spPr>
        <p:txBody>
          <a:bodyPr wrap="square" lIns="12700" tIns="50800" rIns="12700" bIns="15240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En mode Agile : UX en avance d'1-2 sprints (Dual Track)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Rituels : Review UX en démo, tests utilisateurs toutes les 2-3 semaines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Équipe : UX Researcher + UX/UI Designer pour 5-8 développeurs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Outils : Figma (design), Maze/UserTesting (tests), Hotjar (analytics)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Culture : Toute l'équipe observe des tests utilisateurs régulièrement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57784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5577840"/>
            <a:ext cx="63500" cy="868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5715000"/>
            <a:ext cx="10268712" cy="594360"/>
          </a:xfrm>
          <a:prstGeom prst="rect">
            <a:avLst/>
          </a:prstGeom>
          <a:noFill/>
        </p:spPr>
        <p:txBody>
          <a:bodyPr wrap="square" lIns="12700" rIns="12700">
            <a:spAutoFit/>
          </a:bodyPr>
          <a:lstStyle/>
          <a:p>
            <a:r>
              <a:rPr sz="1400">
                <a:solidFill>
                  <a:srgbClr val="1E293B"/>
                </a:solidFill>
                <a:latin typeface="Helvetica Neue Light"/>
              </a:rPr>
              <a:t>Recommendation: L'intégration UX réussie = processus + compétences + culture.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Helvetica Neue"/>
              </a:defRPr>
            </a:pPr>
            <a:r>
              <a:t>Cas Pratique : Refonte Application Interne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17352" cy="3657600"/>
          </a:xfrm>
          <a:prstGeom prst="rect">
            <a:avLst/>
          </a:prstGeom>
          <a:noFill/>
        </p:spPr>
        <p:txBody>
          <a:bodyPr wrap="square" lIns="12700" tIns="50800" rIns="12700" bIns="15240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Contexte : Application métier utilisée par 500 collaborateurs, 45 min de formation nécessaires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Découverte : 12 interviews révèlent 3 parcours critiques mal conçus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Solution : Refonte des 3 parcours, simplification de 40% des écrans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Tests : 3 rounds de tests avec 5 utilisateurs chacun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>
                <a:solidFill>
                  <a:srgbClr val="1A1A1A"/>
                </a:solidFill>
                <a:latin typeface="Helvetica Neue Light"/>
              </a:rPr>
              <a:t>Résultats : Formation réduite à 10 min, satisfaction +40 points, erreurs -60%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57784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5577840"/>
            <a:ext cx="6350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5715000"/>
            <a:ext cx="10268712" cy="594360"/>
          </a:xfrm>
          <a:prstGeom prst="rect">
            <a:avLst/>
          </a:prstGeom>
          <a:noFill/>
        </p:spPr>
        <p:txBody>
          <a:bodyPr wrap="square" lIns="12700" rIns="12700">
            <a:spAutoFit/>
          </a:bodyPr>
          <a:lstStyle/>
          <a:p>
            <a:r>
              <a:rPr sz="1400">
                <a:solidFill>
                  <a:srgbClr val="1E293B"/>
                </a:solidFill>
                <a:latin typeface="Helvetica Neue Light"/>
              </a:rPr>
              <a:t>Insight: Économie annuelle estimée : 200K€ en temps de formation et correction d'erreurs.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Helvetica Neue"/>
              </a:defRPr>
            </a:pPr>
            <a:r>
              <a:t>Checklist : Démarrer l'UX sur Votre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17352" cy="3657600"/>
          </a:xfrm>
          <a:prstGeom prst="rect">
            <a:avLst/>
          </a:prstGeom>
          <a:noFill/>
        </p:spPr>
        <p:txBody>
          <a:bodyPr wrap="square" lIns="12700" tIns="50800" rIns="12700" bIns="15240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✅ Identifier 5-8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utilisateurs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représentatifs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pour des interviews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✅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Cartographier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les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parcours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critiques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actuels</a:t>
            </a:r>
            <a:endParaRPr sz="1500" dirty="0">
              <a:solidFill>
                <a:srgbClr val="1A1A1A"/>
              </a:solidFill>
              <a:latin typeface="Helvetica Neue Light"/>
            </a:endParaRP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✅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Définir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3-5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métriques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UX à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suivre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(conversion, satisfaction,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erreurs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)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✅ Planifier un test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utilisateur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dans les 4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prochaines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semaines</a:t>
            </a:r>
            <a:endParaRPr sz="1500" dirty="0">
              <a:solidFill>
                <a:srgbClr val="1A1A1A"/>
              </a:solidFill>
              <a:latin typeface="Helvetica Neue Light"/>
            </a:endParaRP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✅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Inclure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un point UX dans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vos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rituels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d'équipe</a:t>
            </a:r>
            <a:endParaRPr sz="1500" dirty="0">
              <a:solidFill>
                <a:srgbClr val="1A1A1A"/>
              </a:solidFill>
              <a:latin typeface="Helvetica Neue Light"/>
            </a:endParaRP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✅ Documenter et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partager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les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apprentissages</a:t>
            </a:r>
            <a:endParaRPr sz="1500" dirty="0">
              <a:solidFill>
                <a:srgbClr val="1A1A1A"/>
              </a:solidFill>
              <a:latin typeface="Helvetica Neue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rIns="12700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Helvetica Neue"/>
              </a:defRPr>
            </a:pPr>
            <a:r>
              <a:t>L'Essentiel à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10817352" cy="786384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879092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9092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28800"/>
            <a:ext cx="962863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1A1A1A"/>
                </a:solidFill>
                <a:latin typeface="Helvetica Neue Light"/>
              </a:defRPr>
            </a:pPr>
            <a:r>
              <a:t>1. L'UX est une démarche scientifique basée sur la recherche et la mesure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60904"/>
            <a:ext cx="10817352" cy="786384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2802636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802636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752344"/>
            <a:ext cx="962863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1A1A1A"/>
                </a:solidFill>
                <a:latin typeface="Helvetica Neue Light"/>
              </a:defRPr>
            </a:pPr>
            <a:r>
              <a:t>2. Le ROI est prouvé : 100€ retournés pour 1€ investi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84448"/>
            <a:ext cx="10817352" cy="786384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8680" y="372618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72618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675888"/>
            <a:ext cx="962863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1A1A1A"/>
                </a:solidFill>
                <a:latin typeface="Helvetica Neue Light"/>
              </a:defRPr>
            </a:pPr>
            <a:r>
              <a:t>3. Le processus est itératif : Découvrir → Concevoir → Tester → Améliorer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07992"/>
            <a:ext cx="10817352" cy="786384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8680" y="4649724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649724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599432"/>
            <a:ext cx="962863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1A1A1A"/>
                </a:solidFill>
                <a:latin typeface="Helvetica Neue Light"/>
              </a:defRPr>
            </a:pPr>
            <a:r>
              <a:t>4. L'intégration réussie demande processus, compétences et culture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431536"/>
            <a:ext cx="10817352" cy="786384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8680" y="5573268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57326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522976"/>
            <a:ext cx="962863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1A1A1A"/>
                </a:solidFill>
                <a:latin typeface="Helvetica Neue Light"/>
              </a:defRPr>
            </a:pPr>
            <a:r>
              <a:t>5. Commencez petit : Un test utilisateur vaut 1000 réunions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22876" y="1140822"/>
            <a:ext cx="27432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22876" y="2993570"/>
            <a:ext cx="27432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0" y="0"/>
            <a:ext cx="1371600" cy="13716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ight Triangle 5"/>
          <p:cNvSpPr/>
          <p:nvPr/>
        </p:nvSpPr>
        <p:spPr>
          <a:xfrm rot="10800000">
            <a:off x="10817352" y="5486400"/>
            <a:ext cx="1371600" cy="13716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2595"/>
            <a:ext cx="10360152" cy="93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4F46E5"/>
                </a:solidFill>
                <a:latin typeface="Helvetica Neue"/>
              </a:defRPr>
            </a:pPr>
            <a:r>
              <a:rPr dirty="0"/>
              <a:t>Passons à </a:t>
            </a:r>
            <a:r>
              <a:rPr dirty="0" err="1"/>
              <a:t>l'Action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371600" y="3929742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800">
                <a:solidFill>
                  <a:srgbClr val="1A1A1A"/>
                </a:solidFill>
                <a:latin typeface="Helvetica Neue Light"/>
              </a:defRPr>
            </a:pPr>
            <a:r>
              <a:rPr dirty="0"/>
              <a:t>Étape 1 : Atelier de </a:t>
            </a:r>
            <a:r>
              <a:rPr dirty="0" err="1"/>
              <a:t>cadrage</a:t>
            </a:r>
            <a:r>
              <a:rPr dirty="0"/>
              <a:t> </a:t>
            </a:r>
            <a:r>
              <a:rPr dirty="0" err="1"/>
              <a:t>projet</a:t>
            </a:r>
            <a:r>
              <a:rPr dirty="0"/>
              <a:t> (2-3h) - </a:t>
            </a:r>
            <a:r>
              <a:rPr dirty="0" err="1"/>
              <a:t>Gratuit</a:t>
            </a:r>
            <a:endParaRPr dirty="0"/>
          </a:p>
          <a:p>
            <a:pPr algn="ctr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1A1A1A"/>
                </a:solidFill>
                <a:latin typeface="Helvetica Neue Light"/>
              </a:defRPr>
            </a:pPr>
            <a:r>
              <a:rPr dirty="0"/>
              <a:t>Étape 2 : Proposition </a:t>
            </a:r>
            <a:r>
              <a:rPr dirty="0" err="1"/>
              <a:t>d'accompagnement</a:t>
            </a:r>
            <a:r>
              <a:rPr dirty="0"/>
              <a:t> </a:t>
            </a:r>
            <a:r>
              <a:rPr dirty="0" err="1"/>
              <a:t>adaptée</a:t>
            </a:r>
            <a:r>
              <a:rPr dirty="0"/>
              <a:t> à </a:t>
            </a:r>
            <a:r>
              <a:rPr dirty="0" err="1"/>
              <a:t>votre</a:t>
            </a:r>
            <a:r>
              <a:rPr dirty="0"/>
              <a:t> </a:t>
            </a:r>
            <a:r>
              <a:rPr dirty="0" err="1"/>
              <a:t>contexte</a:t>
            </a:r>
            <a:endParaRPr dirty="0"/>
          </a:p>
          <a:p>
            <a:pPr algn="ctr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1A1A1A"/>
                </a:solidFill>
                <a:latin typeface="Helvetica Neue Light"/>
              </a:defRPr>
            </a:pPr>
            <a:r>
              <a:rPr dirty="0"/>
              <a:t>Étape 3 : Quick win UX sur un </a:t>
            </a:r>
            <a:r>
              <a:rPr dirty="0" err="1"/>
              <a:t>parcours</a:t>
            </a:r>
            <a:r>
              <a:rPr dirty="0"/>
              <a:t> critique </a:t>
            </a:r>
            <a:r>
              <a:rPr dirty="0" err="1"/>
              <a:t>en</a:t>
            </a:r>
            <a:r>
              <a:rPr dirty="0"/>
              <a:t> 4-6 </a:t>
            </a:r>
            <a:r>
              <a:rPr dirty="0" err="1"/>
              <a:t>semaines</a:t>
            </a:r>
            <a:endParaRPr dirty="0"/>
          </a:p>
          <a:p>
            <a:pPr algn="ctr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1A1A1A"/>
                </a:solidFill>
                <a:latin typeface="Helvetica Neue Light"/>
              </a:defRPr>
            </a:pPr>
            <a:r>
              <a:rPr dirty="0" err="1"/>
              <a:t>Ressources</a:t>
            </a:r>
            <a:r>
              <a:rPr dirty="0"/>
              <a:t> : </a:t>
            </a:r>
            <a:r>
              <a:rPr dirty="0" err="1"/>
              <a:t>Accès</a:t>
            </a:r>
            <a:r>
              <a:rPr dirty="0"/>
              <a:t> au Hub UX avec templates et </a:t>
            </a:r>
            <a:r>
              <a:rPr dirty="0" err="1"/>
              <a:t>méthodes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Helvetica Neue"/>
              </a:defRPr>
            </a:pPr>
            <a:r>
              <a:t>Annexes : Ressources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17352" cy="3657600"/>
          </a:xfrm>
          <a:prstGeom prst="rect">
            <a:avLst/>
          </a:prstGeom>
          <a:noFill/>
        </p:spPr>
        <p:txBody>
          <a:bodyPr wrap="square" lIns="12700" tIns="50800" rIns="12700" bIns="15240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Hub UX interne :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Méthodes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, templates, études de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cas</a:t>
            </a:r>
            <a:endParaRPr sz="1500" dirty="0">
              <a:solidFill>
                <a:srgbClr val="1A1A1A"/>
              </a:solidFill>
              <a:latin typeface="Helvetica Neue Light"/>
            </a:endParaRP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Formations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disponibles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: Initiation UX (2h), Tests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utilisateurs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(demi-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journée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)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Bibliothèque : Nielsen Norman Group, Laws of UX, Don't Make Me Think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 err="1">
                <a:solidFill>
                  <a:srgbClr val="1A1A1A"/>
                </a:solidFill>
                <a:latin typeface="Helvetica Neue Light"/>
              </a:rPr>
              <a:t>Outils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Helvetica Neue Light"/>
              </a:rPr>
              <a:t>recommandés</a:t>
            </a:r>
            <a:r>
              <a:rPr sz="1500" dirty="0">
                <a:solidFill>
                  <a:srgbClr val="1A1A1A"/>
                </a:solidFill>
                <a:latin typeface="Helvetica Neue Light"/>
              </a:rPr>
              <a:t> : Figma, Maze, Hotjar, Optimal Workshop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1500" dirty="0">
                <a:solidFill>
                  <a:srgbClr val="1A1A1A"/>
                </a:solidFill>
                <a:latin typeface="Helvetica Neue Light"/>
              </a:rPr>
              <a:t>Contact équipe UX : </a:t>
            </a:r>
            <a:r>
              <a:rPr lang="fr-FR" sz="1500" dirty="0" err="1">
                <a:solidFill>
                  <a:srgbClr val="1A1A1A"/>
                </a:solidFill>
                <a:latin typeface="Helvetica Neue Light"/>
              </a:rPr>
              <a:t>julie.dormoy@teamwillgroup.com</a:t>
            </a:r>
            <a:endParaRPr sz="1500" dirty="0">
              <a:solidFill>
                <a:srgbClr val="1A1A1A"/>
              </a:solidFill>
              <a:latin typeface="Helvetica Neue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1144</Words>
  <Application>Microsoft Macintosh PowerPoint</Application>
  <PresentationFormat>Personnalisé</PresentationFormat>
  <Paragraphs>181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Helvetica Neue</vt:lpstr>
      <vt:lpstr>Helvetica Neue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Julie Dormoy</cp:lastModifiedBy>
  <cp:revision>3</cp:revision>
  <dcterms:created xsi:type="dcterms:W3CDTF">2013-01-27T09:14:16Z</dcterms:created>
  <dcterms:modified xsi:type="dcterms:W3CDTF">2026-01-09T10:08:45Z</dcterms:modified>
  <cp:category/>
</cp:coreProperties>
</file>