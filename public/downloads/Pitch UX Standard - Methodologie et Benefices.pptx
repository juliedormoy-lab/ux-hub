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 snapToObjects="1">
      <p:cViewPr varScale="1">
        <p:scale>
          <a:sx n="112" d="100"/>
          <a:sy n="112" d="100"/>
        </p:scale>
        <p:origin x="6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02552" y="-2743200"/>
            <a:ext cx="7315200" cy="7315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057400"/>
            <a:ext cx="76200" cy="274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902952" cy="228600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pPr algn="ctr">
              <a:lnSpc>
                <a:spcPct val="110000"/>
              </a:lnSpc>
              <a:defRPr sz="5200" b="1">
                <a:solidFill>
                  <a:srgbClr val="1E40AF"/>
                </a:solidFill>
                <a:latin typeface="Helvetica Neue"/>
              </a:defRPr>
            </a:pPr>
            <a:r>
              <a:t>L'UX : Du Concept à la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>
                <a:solidFill>
                  <a:srgbClr val="1A1A1A"/>
                </a:solidFill>
                <a:latin typeface="Helvetica Neue Light"/>
              </a:defRPr>
            </a:pPr>
            <a:r>
              <a:t>Comment l'expérience utilisateur transforme vos projets et vos résultats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6" y="4206240"/>
            <a:ext cx="2286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Helvetica Neue"/>
              </a:defRPr>
            </a:pPr>
            <a:r>
              <a:t>Qu'est-ce que l'UX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User Experience = L'ensemble des perceptions et émotions d'un utilisateur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Discipline multidimensionnelle : recherche, design, tests, mesure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Différence avec l'UI : L'UX est le parcours, l'UI est l'interface visuelle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Approche centrée utilisateur vs. approche centrée technologie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Helvetica Neue"/>
              </a:defRPr>
            </a:pPr>
            <a:r>
              <a:t>Pourquoi l'UX Compte pour Votre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4722876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229100" cy="5029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rPr dirty="0"/>
              <a:t>Sans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33773"/>
            <a:ext cx="4722876" cy="211623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</a:t>
            </a:r>
            <a:r>
              <a:rPr sz="1400" dirty="0" err="1"/>
              <a:t>Utilisateurs</a:t>
            </a:r>
            <a:r>
              <a:rPr sz="1400" dirty="0"/>
              <a:t> </a:t>
            </a:r>
            <a:r>
              <a:rPr sz="1400" dirty="0" err="1"/>
              <a:t>frustrés</a:t>
            </a:r>
            <a:r>
              <a:rPr sz="1400" dirty="0"/>
              <a:t> et abandons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</a:t>
            </a:r>
            <a:r>
              <a:rPr sz="1400" dirty="0" err="1"/>
              <a:t>Développements</a:t>
            </a:r>
            <a:r>
              <a:rPr sz="1400" dirty="0"/>
              <a:t> </a:t>
            </a:r>
            <a:r>
              <a:rPr sz="1400" dirty="0" err="1"/>
              <a:t>coûteux</a:t>
            </a:r>
            <a:r>
              <a:rPr sz="1400" dirty="0"/>
              <a:t> à </a:t>
            </a:r>
            <a:r>
              <a:rPr sz="1400" dirty="0" err="1"/>
              <a:t>refaire</a:t>
            </a:r>
            <a:endParaRPr sz="1400" dirty="0"/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Support client </a:t>
            </a:r>
            <a:r>
              <a:rPr sz="1400" dirty="0" err="1"/>
              <a:t>surchargé</a:t>
            </a:r>
            <a:endParaRPr sz="1400" dirty="0"/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Adoption </a:t>
            </a:r>
            <a:r>
              <a:rPr sz="1400" dirty="0" err="1"/>
              <a:t>faible</a:t>
            </a:r>
            <a:r>
              <a:rPr sz="1400" dirty="0"/>
              <a:t> des </a:t>
            </a:r>
            <a:r>
              <a:rPr sz="1400" dirty="0" err="1"/>
              <a:t>outils</a:t>
            </a:r>
            <a:r>
              <a:rPr sz="1400" dirty="0"/>
              <a:t> internes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1550" y="1737360"/>
            <a:ext cx="495160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9420" y="1828800"/>
            <a:ext cx="4485132" cy="5029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Avec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6" y="2633773"/>
            <a:ext cx="4722876" cy="211623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</a:t>
            </a:r>
            <a:r>
              <a:rPr sz="1400" dirty="0" err="1"/>
              <a:t>Parcours</a:t>
            </a:r>
            <a:r>
              <a:rPr sz="1400" dirty="0"/>
              <a:t> </a:t>
            </a:r>
            <a:r>
              <a:rPr sz="1400" dirty="0" err="1"/>
              <a:t>fluides</a:t>
            </a:r>
            <a:r>
              <a:rPr sz="1400" dirty="0"/>
              <a:t> et </a:t>
            </a:r>
            <a:r>
              <a:rPr sz="1400" dirty="0" err="1"/>
              <a:t>satisfaisants</a:t>
            </a:r>
            <a:endParaRPr sz="1400" dirty="0"/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Conception </a:t>
            </a:r>
            <a:r>
              <a:rPr sz="1400" dirty="0" err="1"/>
              <a:t>validée</a:t>
            </a:r>
            <a:r>
              <a:rPr sz="1400" dirty="0"/>
              <a:t> avant dev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Self-service et </a:t>
            </a:r>
            <a:r>
              <a:rPr sz="1400" dirty="0" err="1"/>
              <a:t>autonomie</a:t>
            </a:r>
            <a:endParaRPr sz="1400" dirty="0"/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sz="1400" dirty="0"/>
              <a:t>• Adoption </a:t>
            </a:r>
            <a:r>
              <a:rPr sz="1400" dirty="0" err="1"/>
              <a:t>rapide</a:t>
            </a:r>
            <a:r>
              <a:rPr sz="1400" dirty="0"/>
              <a:t> et </a:t>
            </a:r>
            <a:r>
              <a:rPr sz="1400" dirty="0" err="1"/>
              <a:t>efficacité</a:t>
            </a:r>
            <a:endParaRPr sz="1400" dirty="0"/>
          </a:p>
        </p:txBody>
      </p:sp>
      <p:sp>
        <p:nvSpPr>
          <p:cNvPr id="10" name="Oval 9"/>
          <p:cNvSpPr/>
          <p:nvPr/>
        </p:nvSpPr>
        <p:spPr>
          <a:xfrm>
            <a:off x="5477256" y="28117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77256" y="2788920"/>
            <a:ext cx="914400" cy="914400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Helvetica Neue"/>
              </a:defRPr>
            </a:pPr>
            <a:r>
              <a:rPr dirty="0"/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  <a:latin typeface="Helvetica Neue"/>
              </a:defRPr>
            </a:pPr>
            <a:r>
              <a:t>Les Chiffres Parlent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1554480"/>
            <a:ext cx="2286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1E40AF"/>
                </a:solidFill>
                <a:latin typeface="Helvetica Neue"/>
              </a:defRPr>
            </a:pPr>
            <a:r>
              <a:t>100€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91B2"/>
                </a:solidFill>
                <a:latin typeface="Helvetica Neue Light"/>
              </a:defRPr>
            </a:pPr>
            <a:r>
              <a:t>RETOUR POUR CHAQUE EURO INVESTI EN UX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6" y="4206240"/>
            <a:ext cx="2286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4754880"/>
            <a:ext cx="8988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t>+200% de productivité utilisateur après amélioration 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Helvetica Neue"/>
              </a:defRPr>
            </a:pPr>
            <a:r>
              <a:t>Notre Méthodologie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Phase 1 - Découverte : Interviews utilisateurs, analyse des parcours, audit de l'existant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Phase 2 - Idéation : Ateliers de co-conception, wireframes, architecture d'information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Phase 3 - Prototypage : Maquettes interactives, tests utilisateurs, itérations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Phase 4 - Implémentation : Accompagnement développement, contrôle qualité UX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Phase 5 - Mesure : Analytics, tests A/B, amélioration continue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Key Point: Chaque phase produit des livrables concrets et validés avant de passer à la suivante.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Helvetica Neue"/>
              </a:defRPr>
            </a:pPr>
            <a:r>
              <a:t>Success Story : Transformation d'un Portail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Contexte : Portail avec taux d'abandon de 67% et 300 appels/jour au support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Actions UX : Recherche utilisateurs, refonte des parcours critiques, tests itératifs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Résultats : -45% d'appels support, +35% de satisfaction, -30% de temps de traitement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Délai : 12 semaines de la découverte au déploiement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Insight: ROI atteint en 6 mois grâce à la réduction des coûts de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Helvetica Neue"/>
              </a:defRPr>
            </a:pPr>
            <a:r>
              <a:t>Quick Wins : Démarrez Rapidement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8173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40AF"/>
                          </a:solidFill>
                          <a:latin typeface="Helvetica Neue Light"/>
                        </a:rPr>
                        <a:t>Audit UX 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Analyse de vos parcours critiques en 1 semaine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Rapport avec recommandations priorisées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40AF"/>
                          </a:solidFill>
                          <a:latin typeface="Helvetica Neue Light"/>
                        </a:rPr>
                        <a:t>Interviews Utilisateurs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5-8 entretiens pour comprendre les vrais besoins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Insights actionnables immédiatement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40AF"/>
                          </a:solidFill>
                          <a:latin typeface="Helvetica Neue Light"/>
                        </a:rPr>
                        <a:t>Test Utilisateur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Validation d'une maquette existante en 3 jours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Liste des irritants et solutions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22876" y="1543050"/>
            <a:ext cx="27432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22876" y="3303270"/>
            <a:ext cx="27432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0" y="0"/>
            <a:ext cx="1371600" cy="1371600"/>
          </a:xfrm>
          <a:prstGeom prst="rtTriangl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Triangle 5"/>
          <p:cNvSpPr/>
          <p:nvPr/>
        </p:nvSpPr>
        <p:spPr>
          <a:xfrm rot="10800000">
            <a:off x="10817352" y="5486400"/>
            <a:ext cx="1371600" cy="1371600"/>
          </a:xfrm>
          <a:prstGeom prst="rtTriangl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40AF"/>
                </a:solidFill>
                <a:latin typeface="Helvetica Neue"/>
              </a:defRPr>
            </a:pPr>
            <a:r>
              <a:rPr dirty="0"/>
              <a:t>Passons à </a:t>
            </a:r>
            <a:r>
              <a:rPr dirty="0" err="1"/>
              <a:t>l'Action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389763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Étape 1 : Atelier de </a:t>
            </a:r>
            <a:r>
              <a:rPr dirty="0" err="1"/>
              <a:t>cadrage</a:t>
            </a:r>
            <a:r>
              <a:rPr dirty="0"/>
              <a:t> (2h) pour identifier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priorités</a:t>
            </a:r>
            <a:r>
              <a:rPr dirty="0"/>
              <a:t> UX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Étape 2 : Proposition d'un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pilote</a:t>
            </a:r>
            <a:r>
              <a:rPr dirty="0"/>
              <a:t> avec </a:t>
            </a:r>
            <a:r>
              <a:rPr dirty="0" err="1"/>
              <a:t>périmètre</a:t>
            </a:r>
            <a:r>
              <a:rPr dirty="0"/>
              <a:t> et ROI </a:t>
            </a:r>
            <a:r>
              <a:rPr dirty="0" err="1"/>
              <a:t>estimé</a:t>
            </a:r>
            <a:endParaRPr dirty="0"/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Étape 3 : </a:t>
            </a:r>
            <a:r>
              <a:rPr dirty="0" err="1"/>
              <a:t>Lancement</a:t>
            </a:r>
            <a:r>
              <a:rPr dirty="0"/>
              <a:t> d'un quick win sous 2 </a:t>
            </a:r>
            <a:r>
              <a:rPr dirty="0" err="1"/>
              <a:t>semaines</a:t>
            </a:r>
            <a:endParaRPr dirty="0"/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Objectif : Premiers </a:t>
            </a:r>
            <a:r>
              <a:rPr dirty="0" err="1"/>
              <a:t>résultats</a:t>
            </a:r>
            <a:r>
              <a:rPr dirty="0"/>
              <a:t> </a:t>
            </a:r>
            <a:r>
              <a:rPr dirty="0" err="1"/>
              <a:t>visibles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4-6 </a:t>
            </a:r>
            <a:r>
              <a:rPr dirty="0" err="1"/>
              <a:t>semaines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Helvetica Neue"/>
              </a:defRPr>
            </a:pPr>
            <a:r>
              <a:t>Ressources et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 dirty="0">
                <a:solidFill>
                  <a:srgbClr val="1A1A1A"/>
                </a:solidFill>
                <a:latin typeface="Helvetica Neue Light"/>
              </a:rPr>
              <a:t>Documentation : Hub UX interne avec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méthodes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et templates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 dirty="0">
                <a:solidFill>
                  <a:srgbClr val="1A1A1A"/>
                </a:solidFill>
                <a:latin typeface="Helvetica Neue Light"/>
              </a:rPr>
              <a:t>Formation : Ateliers de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sensibilisation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disponibles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pour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vos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équipes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 dirty="0">
                <a:solidFill>
                  <a:srgbClr val="1A1A1A"/>
                </a:solidFill>
                <a:latin typeface="Helvetica Neue Light"/>
              </a:rPr>
              <a:t>Contact : </a:t>
            </a:r>
            <a:r>
              <a:rPr lang="fr-FR" sz="1800" dirty="0" err="1">
                <a:solidFill>
                  <a:srgbClr val="1A1A1A"/>
                </a:solidFill>
                <a:latin typeface="Helvetica Neue Light"/>
              </a:rPr>
              <a:t>julie.dormoy@teamwillgroup.com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- Disponible pour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accompagner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vos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projets</a:t>
            </a:r>
            <a:endParaRPr sz="18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 dirty="0" err="1">
                <a:solidFill>
                  <a:srgbClr val="1A1A1A"/>
                </a:solidFill>
                <a:latin typeface="Helvetica Neue Light"/>
              </a:rPr>
              <a:t>Prochaine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étape :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Réservez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votre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créneau</a:t>
            </a:r>
            <a:r>
              <a:rPr sz="1800" dirty="0">
                <a:solidFill>
                  <a:srgbClr val="1A1A1A"/>
                </a:solidFill>
                <a:latin typeface="Helvetica Neue Light"/>
              </a:rPr>
              <a:t> de </a:t>
            </a:r>
            <a:r>
              <a:rPr sz="1800" dirty="0" err="1">
                <a:solidFill>
                  <a:srgbClr val="1A1A1A"/>
                </a:solidFill>
                <a:latin typeface="Helvetica Neue Light"/>
              </a:rPr>
              <a:t>découverte</a:t>
            </a:r>
            <a:endParaRPr sz="1800" dirty="0">
              <a:solidFill>
                <a:srgbClr val="1A1A1A"/>
              </a:solidFill>
              <a:latin typeface="Helvetica Neue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440</Words>
  <Application>Microsoft Macintosh PowerPoint</Application>
  <PresentationFormat>Personnalisé</PresentationFormat>
  <Paragraphs>59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Helvetica Neue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Julie Dormoy</cp:lastModifiedBy>
  <cp:revision>2</cp:revision>
  <dcterms:created xsi:type="dcterms:W3CDTF">2013-01-27T09:14:16Z</dcterms:created>
  <dcterms:modified xsi:type="dcterms:W3CDTF">2026-01-09T10:03:45Z</dcterms:modified>
  <cp:category/>
</cp:coreProperties>
</file>